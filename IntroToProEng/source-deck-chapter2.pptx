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80" r:id="rId15"/>
    <p:sldId id="279" r:id="rId16"/>
    <p:sldId id="277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מדידה ואינטרפולציה" id="{F33791CC-C1B0-5660-C4A9-8B63FFB0E974}">
          <p14:sldIdLst>
            <p14:sldId id="256"/>
            <p14:sldId id="276"/>
            <p14:sldId id="258"/>
            <p14:sldId id="259"/>
            <p14:sldId id="260"/>
            <p14:sldId id="261"/>
          </p14:sldIdLst>
        </p14:section>
        <p14:section name="התאמת עקומות" id="{6ED3F048-04B4-FE74-AF2A-143D1423C678}">
          <p14:sldIdLst>
            <p14:sldId id="262"/>
            <p14:sldId id="263"/>
            <p14:sldId id="264"/>
            <p14:sldId id="265"/>
          </p14:sldIdLst>
        </p14:section>
        <p14:section name="גרפים לוגריתמיים" id="{26357414-07A0-4C12-EFA3-9F212DE7BC97}">
          <p14:sldIdLst>
            <p14:sldId id="266"/>
            <p14:sldId id="267"/>
            <p14:sldId id="278"/>
            <p14:sldId id="280"/>
            <p14:sldId id="279"/>
            <p14:sldId id="277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661" autoAdjust="0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40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542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גרפי לוג לוג עוזרים לנו לזהות את החזקה כאשר יש קשר חזקתי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77395" y="0"/>
            <a:ext cx="114300" cy="6858000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876495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e-IL" altLang="en-US" sz="1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מבוא להנדסת תהליכים לביוטכנולוגיה א' · פרק 2 – ניתוח והצגת נתוני תהליך</a:t>
            </a:r>
            <a:endParaRPr lang="he-IL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77395" y="0"/>
            <a:ext cx="114300" cy="6858000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876495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e-IL" altLang="en-US" sz="1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מבוא להנדסת תהליכים לביוטכנולוגיה א' · פרק 2 – ניתוח והצגת נתוני תהליך</a:t>
            </a:r>
            <a:endParaRPr lang="he-IL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EEF5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77395" y="0"/>
            <a:ext cx="114300" cy="6858000"/>
          </a:xfrm>
          <a:prstGeom prst="rect">
            <a:avLst/>
          </a:prstGeom>
          <a:solidFill>
            <a:srgbClr val="549E39"/>
          </a:solidFill>
          <a:ln/>
        </p:spPr>
      </p:sp>
      <p:sp>
        <p:nvSpPr>
          <p:cNvPr id="3" name="Text 1"/>
          <p:cNvSpPr/>
          <p:nvPr/>
        </p:nvSpPr>
        <p:spPr>
          <a:xfrm>
            <a:off x="4876495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e-IL" altLang="en-US" sz="1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מבוא להנדסת תהליכים לביוטכנולוגיה א' · פרק 2 – ניתוח והצגת נתוני תהליך</a:t>
            </a:r>
            <a:endParaRPr lang="he-IL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CTI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77395" y="0"/>
            <a:ext cx="114300" cy="6858000"/>
          </a:xfrm>
          <a:prstGeom prst="rect">
            <a:avLst/>
          </a:prstGeom>
          <a:solidFill>
            <a:srgbClr val="549E39"/>
          </a:solidFill>
          <a:ln/>
        </p:spPr>
      </p:sp>
      <p:sp>
        <p:nvSpPr>
          <p:cNvPr id="3" name="Text 1"/>
          <p:cNvSpPr/>
          <p:nvPr/>
        </p:nvSpPr>
        <p:spPr>
          <a:xfrm>
            <a:off x="4876495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e-IL" altLang="en-US" sz="1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מבוא להנדסת תהליכים לביוטכנולוגיה א' · פרק 2 – ניתוח והצגת נתוני תהליך</a:t>
            </a:r>
            <a:endParaRPr lang="he-IL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033272"/>
            <a:ext cx="5157216" cy="3661075"/>
          </a:xfrm>
          <a:prstGeom prst="roundRect">
            <a:avLst>
              <a:gd name="adj" fmla="val 2997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איור של מפעל עם ארובות מעשנות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000"/>
            <a:ext cx="4937760" cy="34416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143000"/>
            <a:ext cx="4876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66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</a:t>
            </a:r>
            <a:endParaRPr lang="he-IL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2240280"/>
            <a:ext cx="48764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3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מבוא להנדסת תהליכים</a:t>
            </a:r>
            <a:endParaRPr lang="he-IL" sz="3600" dirty="0"/>
          </a:p>
        </p:txBody>
      </p:sp>
      <p:sp>
        <p:nvSpPr>
          <p:cNvPr id="6" name="Shape 3"/>
          <p:cNvSpPr/>
          <p:nvPr/>
        </p:nvSpPr>
        <p:spPr>
          <a:xfrm>
            <a:off x="10591495" y="3977640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814255" y="3977640"/>
            <a:ext cx="685800" cy="59436"/>
          </a:xfrm>
          <a:prstGeom prst="rect">
            <a:avLst/>
          </a:prstGeom>
          <a:solidFill>
            <a:srgbClr val="C0C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00800" y="4206240"/>
            <a:ext cx="4876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ד"ר ענבל צרפתי-ברעד</a:t>
            </a:r>
            <a:endParaRPr lang="he-IL" sz="2200" dirty="0"/>
          </a:p>
        </p:txBody>
      </p:sp>
      <p:sp>
        <p:nvSpPr>
          <p:cNvPr id="9" name="Shape 6"/>
          <p:cNvSpPr/>
          <p:nvPr/>
        </p:nvSpPr>
        <p:spPr>
          <a:xfrm>
            <a:off x="8005877" y="5120640"/>
            <a:ext cx="3271418" cy="82296"/>
          </a:xfrm>
          <a:prstGeom prst="roundRect">
            <a:avLst>
              <a:gd name="adj" fmla="val 4444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005877" y="5303520"/>
            <a:ext cx="327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מדידה ואינטרפולציה</a:t>
            </a:r>
            <a:endParaRPr lang="he-IL" sz="1800" dirty="0"/>
          </a:p>
        </p:txBody>
      </p:sp>
      <p:sp>
        <p:nvSpPr>
          <p:cNvPr id="11" name="Shape 8"/>
          <p:cNvSpPr/>
          <p:nvPr/>
        </p:nvSpPr>
        <p:spPr>
          <a:xfrm>
            <a:off x="4460138" y="5120640"/>
            <a:ext cx="3271418" cy="82296"/>
          </a:xfrm>
          <a:prstGeom prst="roundRect">
            <a:avLst>
              <a:gd name="adj" fmla="val 4444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460138" y="5303520"/>
            <a:ext cx="327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התאמת עקומות</a:t>
            </a:r>
            <a:endParaRPr lang="he-IL" sz="1800" dirty="0"/>
          </a:p>
        </p:txBody>
      </p:sp>
      <p:sp>
        <p:nvSpPr>
          <p:cNvPr id="13" name="Shape 10"/>
          <p:cNvSpPr/>
          <p:nvPr/>
        </p:nvSpPr>
        <p:spPr>
          <a:xfrm>
            <a:off x="914400" y="5120640"/>
            <a:ext cx="3271418" cy="82296"/>
          </a:xfrm>
          <a:prstGeom prst="roundRect">
            <a:avLst>
              <a:gd name="adj" fmla="val 4444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914400" y="5303520"/>
            <a:ext cx="327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גרפים לוגריתמיים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מדידה ואינטרפולציה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3794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– מבוא להנדסת תהליכים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2651760" cy="4251960"/>
          </a:xfrm>
          <a:prstGeom prst="roundRect">
            <a:avLst>
              <a:gd name="adj" fmla="val 4138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1874520"/>
            <a:ext cx="2651760" cy="548640"/>
          </a:xfrm>
          <a:prstGeom prst="rect">
            <a:avLst/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14300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נושאים</a:t>
            </a:r>
            <a:endParaRPr lang="he-IL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0604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r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מימדים ויחידות, מערכות של יחידות, פקטור מעבר</a:t>
            </a:r>
            <a:endParaRPr lang="he-IL" sz="1800" dirty="0"/>
          </a:p>
          <a:p>
            <a:pPr marL="177800" indent="-177800" algn="r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כח ומסה</a:t>
            </a:r>
            <a:endParaRPr lang="he-IL" sz="1800" dirty="0"/>
          </a:p>
          <a:p>
            <a:pPr marL="177800" indent="-177800" algn="r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חישובים נומריים והערכות</a:t>
            </a:r>
            <a:endParaRPr lang="he-IL" sz="1800" dirty="0"/>
          </a:p>
          <a:p>
            <a:pPr marL="177800" indent="-177800" algn="r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הומוגניות ומספרים חסרי מימד</a:t>
            </a:r>
            <a:endParaRPr lang="he-IL" sz="1800" dirty="0"/>
          </a:p>
          <a:p>
            <a:pPr marL="177800" indent="-177800" algn="r" rtl="1">
              <a:spcAft>
                <a:spcPts val="1000"/>
              </a:spcAft>
              <a:buSzPct val="100000"/>
              <a:buChar char="•"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והצגת נתוני תהליך</a:t>
            </a:r>
            <a:endParaRPr lang="he-IL" sz="1800" dirty="0"/>
          </a:p>
        </p:txBody>
      </p:sp>
      <p:sp>
        <p:nvSpPr>
          <p:cNvPr id="12" name="Shape 10"/>
          <p:cNvSpPr/>
          <p:nvPr/>
        </p:nvSpPr>
        <p:spPr>
          <a:xfrm>
            <a:off x="3840480" y="1874520"/>
            <a:ext cx="7436815" cy="548640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069080" y="1874520"/>
            <a:ext cx="6979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תפוקות למידה - בסיום מוצלח של פרק זה תוכלו:</a:t>
            </a:r>
            <a:endParaRPr lang="he-IL" sz="2000" dirty="0"/>
          </a:p>
        </p:txBody>
      </p:sp>
      <p:sp>
        <p:nvSpPr>
          <p:cNvPr id="14" name="Shape 12"/>
          <p:cNvSpPr/>
          <p:nvPr/>
        </p:nvSpPr>
        <p:spPr>
          <a:xfrm>
            <a:off x="3840480" y="2514600"/>
            <a:ext cx="7436815" cy="848106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023360" y="2514600"/>
            <a:ext cx="7071055" cy="84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לקבוע</a:t>
            </a: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מספר ספרות משמעותיות בערך נתון, ולבחור את מספר הספרות המשמעותיות הנדרשות בתוצאות של פעולות חשבון.</a:t>
            </a:r>
            <a:endParaRPr lang="he-IL" sz="1800" dirty="0"/>
          </a:p>
        </p:txBody>
      </p:sp>
      <p:sp>
        <p:nvSpPr>
          <p:cNvPr id="16" name="Shape 14"/>
          <p:cNvSpPr/>
          <p:nvPr/>
        </p:nvSpPr>
        <p:spPr>
          <a:xfrm>
            <a:off x="3840480" y="3417570"/>
            <a:ext cx="7436815" cy="8481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023360" y="3417570"/>
            <a:ext cx="7071055" cy="84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לבצע</a:t>
            </a: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אינטרפולציה ליניארית על נתונים, ולנתח מצבים שבהם השיטה עלולה להטעות</a:t>
            </a:r>
            <a:endParaRPr lang="he-IL" sz="1800" dirty="0"/>
          </a:p>
        </p:txBody>
      </p:sp>
      <p:sp>
        <p:nvSpPr>
          <p:cNvPr id="18" name="Shape 16"/>
          <p:cNvSpPr/>
          <p:nvPr/>
        </p:nvSpPr>
        <p:spPr>
          <a:xfrm>
            <a:off x="3840480" y="4320540"/>
            <a:ext cx="7436815" cy="848106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023360" y="4320540"/>
            <a:ext cx="7071055" cy="84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לגזור</a:t>
            </a: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משוואת קו ישר משתי נקודות נתונות, ולהתאים קו ישר לנתונים ניסיוניים.</a:t>
            </a:r>
            <a:endParaRPr lang="he-IL" sz="1800" dirty="0"/>
          </a:p>
        </p:txBody>
      </p:sp>
      <p:sp>
        <p:nvSpPr>
          <p:cNvPr id="20" name="Shape 18"/>
          <p:cNvSpPr/>
          <p:nvPr/>
        </p:nvSpPr>
        <p:spPr>
          <a:xfrm>
            <a:off x="3840480" y="5223510"/>
            <a:ext cx="7436815" cy="8481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023360" y="5223510"/>
            <a:ext cx="7071055" cy="84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לזהות</a:t>
            </a: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ייצוגים גרפיים מתאימים (רגיל, חצי־לוגריתמי, לוגריתמי) עבור קשרים מסוג חזקה או אקספוננט; לקבוע פרמטרים מתוך גרף ליניארי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76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51215" y="9144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150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417320"/>
            <a:ext cx="7071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תת-נושא 1 מתוך 3</a:t>
            </a:r>
            <a:endParaRPr lang="he-IL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70710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4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והצגת נתוני תהליך</a:t>
            </a:r>
            <a:endParaRPr lang="he-IL" sz="4000" dirty="0"/>
          </a:p>
        </p:txBody>
      </p:sp>
      <p:sp>
        <p:nvSpPr>
          <p:cNvPr id="5" name="Shape 3"/>
          <p:cNvSpPr/>
          <p:nvPr/>
        </p:nvSpPr>
        <p:spPr>
          <a:xfrm>
            <a:off x="7299655" y="3931920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05877" y="5120640"/>
            <a:ext cx="3271418" cy="82296"/>
          </a:xfrm>
          <a:prstGeom prst="roundRect">
            <a:avLst>
              <a:gd name="adj" fmla="val 4444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05877" y="5303520"/>
            <a:ext cx="327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מדידה ואינטרפולציה</a:t>
            </a:r>
            <a:endParaRPr lang="he-IL" sz="1800" dirty="0"/>
          </a:p>
        </p:txBody>
      </p:sp>
      <p:sp>
        <p:nvSpPr>
          <p:cNvPr id="8" name="Shape 6"/>
          <p:cNvSpPr/>
          <p:nvPr/>
        </p:nvSpPr>
        <p:spPr>
          <a:xfrm>
            <a:off x="4460138" y="5120640"/>
            <a:ext cx="3271418" cy="82296"/>
          </a:xfrm>
          <a:prstGeom prst="roundRect">
            <a:avLst>
              <a:gd name="adj" fmla="val 4444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460138" y="5303520"/>
            <a:ext cx="327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התאמת עקומות</a:t>
            </a:r>
            <a:endParaRPr lang="he-IL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5120640"/>
            <a:ext cx="3271418" cy="82296"/>
          </a:xfrm>
          <a:prstGeom prst="roundRect">
            <a:avLst>
              <a:gd name="adj" fmla="val 4444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5303520"/>
            <a:ext cx="327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גרפים לוגריתמיים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מדידה ואינטרפולציה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3794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מדידה עקיפה וכיול נתונים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4"/>
          <p:cNvSpPr/>
          <p:nvPr/>
        </p:nvSpPr>
        <p:spPr>
          <a:xfrm>
            <a:off x="914400" y="1874520"/>
            <a:ext cx="4480560" cy="3371935"/>
          </a:xfrm>
          <a:prstGeom prst="roundRect">
            <a:avLst>
              <a:gd name="adj" fmla="val 3254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a4" descr="שקף מתוך לומדה: תלות הבליעה בריכוז היא ליניארית, A = εCℓ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31043"/>
            <a:ext cx="4297680" cy="3058890"/>
          </a:xfrm>
          <a:prstGeom prst="rect">
            <a:avLst/>
          </a:prstGeom>
        </p:spPr>
      </p:pic>
      <p:sp>
        <p:nvSpPr>
          <p:cNvPr id="10" name="a4"/>
          <p:cNvSpPr txBox="1"/>
          <p:nvPr/>
        </p:nvSpPr>
        <p:spPr>
          <a:xfrm>
            <a:off x="914400" y="5337895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מתוך הלומדה "ספקטרוסקופיה, מבוא למשוואת ביר למברט", ד"ר אלינה גולדשטיין לויטין, היחידה לקידום איכות ההוראה והלמידה באוניברסיטת בן גוריון בנגב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5715000" y="1874520"/>
            <a:ext cx="5562295" cy="868680"/>
          </a:xfrm>
          <a:prstGeom prst="roundRect">
            <a:avLst>
              <a:gd name="adj" fmla="val 12632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728655" y="2125980"/>
            <a:ext cx="365760" cy="365760"/>
          </a:xfrm>
          <a:prstGeom prst="ellipse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728655" y="21259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1874520"/>
            <a:ext cx="4647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ברוב המדידות ההנדסיות לא מודדים ישירות את הגודל הרצוי (למשל ריכוז).</a:t>
            </a:r>
            <a:endParaRPr lang="he-IL" sz="2000" dirty="0"/>
          </a:p>
        </p:txBody>
      </p:sp>
      <p:sp>
        <p:nvSpPr>
          <p:cNvPr id="15" name="a1"/>
          <p:cNvSpPr/>
          <p:nvPr/>
        </p:nvSpPr>
        <p:spPr>
          <a:xfrm>
            <a:off x="5715000" y="2880360"/>
            <a:ext cx="5562295" cy="868680"/>
          </a:xfrm>
          <a:prstGeom prst="roundRect">
            <a:avLst>
              <a:gd name="adj" fmla="val 12632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1"/>
          <p:cNvSpPr/>
          <p:nvPr/>
        </p:nvSpPr>
        <p:spPr>
          <a:xfrm>
            <a:off x="10728655" y="3131820"/>
            <a:ext cx="365760" cy="365760"/>
          </a:xfrm>
          <a:prstGeom prst="ellipse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a1"/>
          <p:cNvSpPr txBox="1"/>
          <p:nvPr/>
        </p:nvSpPr>
        <p:spPr>
          <a:xfrm>
            <a:off x="10728655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a1"/>
          <p:cNvSpPr txBox="1"/>
          <p:nvPr/>
        </p:nvSpPr>
        <p:spPr>
          <a:xfrm>
            <a:off x="5943600" y="2880360"/>
            <a:ext cx="4647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נמדד גודל נלווה שקל למדידה — מוליכות, מתח או בליעת אור.</a:t>
            </a:r>
            <a:endParaRPr lang="he-IL" sz="2000" dirty="0"/>
          </a:p>
        </p:txBody>
      </p:sp>
      <p:sp>
        <p:nvSpPr>
          <p:cNvPr id="19" name="a2"/>
          <p:cNvSpPr/>
          <p:nvPr/>
        </p:nvSpPr>
        <p:spPr>
          <a:xfrm>
            <a:off x="5715000" y="3886200"/>
            <a:ext cx="5562295" cy="868680"/>
          </a:xfrm>
          <a:prstGeom prst="roundRect">
            <a:avLst>
              <a:gd name="adj" fmla="val 12632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2"/>
          <p:cNvSpPr/>
          <p:nvPr/>
        </p:nvSpPr>
        <p:spPr>
          <a:xfrm>
            <a:off x="10728655" y="4137660"/>
            <a:ext cx="365760" cy="365760"/>
          </a:xfrm>
          <a:prstGeom prst="ellipse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a2"/>
          <p:cNvSpPr txBox="1"/>
          <p:nvPr/>
        </p:nvSpPr>
        <p:spPr>
          <a:xfrm>
            <a:off x="10728655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a2"/>
          <p:cNvSpPr txBox="1"/>
          <p:nvPr/>
        </p:nvSpPr>
        <p:spPr>
          <a:xfrm>
            <a:off x="5943600" y="3886200"/>
            <a:ext cx="4647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באמצעות ניסוי כיול יוצרים קשר בין הגודל הנמדד לגודל הרצוי.</a:t>
            </a:r>
            <a:endParaRPr lang="he-IL" sz="2000" dirty="0"/>
          </a:p>
        </p:txBody>
      </p:sp>
      <p:sp>
        <p:nvSpPr>
          <p:cNvPr id="23" name="a3"/>
          <p:cNvSpPr/>
          <p:nvPr/>
        </p:nvSpPr>
        <p:spPr>
          <a:xfrm>
            <a:off x="5715000" y="4983480"/>
            <a:ext cx="5562295" cy="1143000"/>
          </a:xfrm>
          <a:prstGeom prst="roundRect">
            <a:avLst>
              <a:gd name="adj" fmla="val 9600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3"/>
          <p:cNvSpPr/>
          <p:nvPr/>
        </p:nvSpPr>
        <p:spPr>
          <a:xfrm>
            <a:off x="11185855" y="5093208"/>
            <a:ext cx="91440" cy="923544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a3"/>
          <p:cNvSpPr txBox="1"/>
          <p:nvPr/>
        </p:nvSpPr>
        <p:spPr>
          <a:xfrm>
            <a:off x="5989320" y="4983480"/>
            <a:ext cx="50136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 </a:t>
            </a: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חוק ביר–למבר, בליעת אור (בערכים שרירותיים a.u.) פרופורציונלית לריכוז.</a:t>
            </a:r>
            <a:endParaRPr lang="he-IL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מדידה ואינטרפולציה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3794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אינטרפולציה ואקסטרפולציה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3"/>
          <p:cNvSpPr/>
          <p:nvPr/>
        </p:nvSpPr>
        <p:spPr>
          <a:xfrm>
            <a:off x="914400" y="1874520"/>
            <a:ext cx="3931920" cy="203454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a3" descr="גרף נקודות ובו נקודת אינטרפולציה (ירוקה) בתוך תחום המדידות ונקודת אקספטרפולציה (אדומה) מחוצה לו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715" y="1965960"/>
            <a:ext cx="3181290" cy="1851660"/>
          </a:xfrm>
          <a:prstGeom prst="rect">
            <a:avLst/>
          </a:prstGeom>
        </p:spPr>
      </p:pic>
      <p:sp>
        <p:nvSpPr>
          <p:cNvPr id="10" name="a4"/>
          <p:cNvSpPr/>
          <p:nvPr/>
        </p:nvSpPr>
        <p:spPr>
          <a:xfrm>
            <a:off x="914400" y="4091940"/>
            <a:ext cx="3931920" cy="203454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a4" descr="גרף נקודות במגמה לא ליניארית: אקסטרפולציה ליניארית מחוץ לתחום מחטיאה את המגמה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715" y="4183380"/>
            <a:ext cx="3181290" cy="18516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74520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מדידת ערכים שלא נמדדו באופן ישיר</a:t>
            </a:r>
            <a:endParaRPr lang="he-IL" sz="2200" dirty="0"/>
          </a:p>
        </p:txBody>
      </p:sp>
      <p:sp>
        <p:nvSpPr>
          <p:cNvPr id="13" name="a1"/>
          <p:cNvSpPr/>
          <p:nvPr/>
        </p:nvSpPr>
        <p:spPr>
          <a:xfrm>
            <a:off x="8899855" y="260604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1"/>
          <p:cNvSpPr txBox="1"/>
          <p:nvPr/>
        </p:nvSpPr>
        <p:spPr>
          <a:xfrm>
            <a:off x="9082735" y="26060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אינטרפולציה</a:t>
            </a:r>
            <a:endParaRPr lang="he-IL" sz="2000" dirty="0"/>
          </a:p>
        </p:txBody>
      </p:sp>
      <p:sp>
        <p:nvSpPr>
          <p:cNvPr id="15" name="a1"/>
          <p:cNvSpPr/>
          <p:nvPr/>
        </p:nvSpPr>
        <p:spPr>
          <a:xfrm>
            <a:off x="5166360" y="2606040"/>
            <a:ext cx="3596335" cy="960120"/>
          </a:xfrm>
          <a:prstGeom prst="roundRect">
            <a:avLst>
              <a:gd name="adj" fmla="val 11429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1"/>
          <p:cNvSpPr txBox="1"/>
          <p:nvPr/>
        </p:nvSpPr>
        <p:spPr>
          <a:xfrm>
            <a:off x="5394960" y="2606040"/>
            <a:ext cx="3139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חיזוי בתוך תחום המדידות.</a:t>
            </a:r>
            <a:endParaRPr lang="he-IL" sz="2000" dirty="0"/>
          </a:p>
        </p:txBody>
      </p:sp>
      <p:sp>
        <p:nvSpPr>
          <p:cNvPr id="17" name="a2"/>
          <p:cNvSpPr/>
          <p:nvPr/>
        </p:nvSpPr>
        <p:spPr>
          <a:xfrm>
            <a:off x="8899855" y="370332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2"/>
          <p:cNvSpPr txBox="1"/>
          <p:nvPr/>
        </p:nvSpPr>
        <p:spPr>
          <a:xfrm>
            <a:off x="9082735" y="37033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אקסטרפולציה</a:t>
            </a:r>
            <a:endParaRPr lang="he-IL" sz="2000" dirty="0"/>
          </a:p>
        </p:txBody>
      </p:sp>
      <p:sp>
        <p:nvSpPr>
          <p:cNvPr id="19" name="a2"/>
          <p:cNvSpPr/>
          <p:nvPr/>
        </p:nvSpPr>
        <p:spPr>
          <a:xfrm>
            <a:off x="5166360" y="3703320"/>
            <a:ext cx="3596335" cy="960120"/>
          </a:xfrm>
          <a:prstGeom prst="roundRect">
            <a:avLst>
              <a:gd name="adj" fmla="val 11429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2"/>
          <p:cNvSpPr txBox="1"/>
          <p:nvPr/>
        </p:nvSpPr>
        <p:spPr>
          <a:xfrm>
            <a:off x="5394960" y="3703320"/>
            <a:ext cx="3139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חיזוי מחוץ לתחום המדידות.</a:t>
            </a:r>
            <a:endParaRPr lang="he-IL" sz="2000" dirty="0"/>
          </a:p>
        </p:txBody>
      </p:sp>
      <p:sp>
        <p:nvSpPr>
          <p:cNvPr id="21" name="a5"/>
          <p:cNvSpPr/>
          <p:nvPr/>
        </p:nvSpPr>
        <p:spPr>
          <a:xfrm>
            <a:off x="5166360" y="4937760"/>
            <a:ext cx="6110935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5"/>
          <p:cNvSpPr txBox="1"/>
          <p:nvPr/>
        </p:nvSpPr>
        <p:spPr>
          <a:xfrm>
            <a:off x="5440680" y="4937760"/>
            <a:ext cx="5562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באקסטרפולציה גדל הסיכון לשגיאה – המגמה עלולה לא להישמר.</a:t>
            </a:r>
            <a:endParaRPr lang="he-IL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מדידה ואינטרפולציה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3794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אינטרפולציה מקומית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1"/>
          <p:cNvSpPr/>
          <p:nvPr/>
        </p:nvSpPr>
        <p:spPr>
          <a:xfrm>
            <a:off x="914400" y="1874520"/>
            <a:ext cx="3931920" cy="203454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a1" descr="אינטרפולציה בין שתי נקודות סמוכות (x1,y1) ו-(x2,y2) בנתונים כמעט ליניאריי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715" y="1965960"/>
            <a:ext cx="3181290" cy="1851660"/>
          </a:xfrm>
          <a:prstGeom prst="rect">
            <a:avLst/>
          </a:prstGeom>
        </p:spPr>
      </p:pic>
      <p:sp>
        <p:nvSpPr>
          <p:cNvPr id="10" name="a3"/>
          <p:cNvSpPr/>
          <p:nvPr/>
        </p:nvSpPr>
        <p:spPr>
          <a:xfrm>
            <a:off x="914400" y="4091940"/>
            <a:ext cx="3931920" cy="203454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a3" descr="אינטרפולציה בין שתי נקודות סמוכות בנתונים לא ליניאריים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715" y="4183380"/>
            <a:ext cx="3181290" cy="18516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66360" y="1874520"/>
            <a:ext cx="6110935" cy="1874520"/>
          </a:xfrm>
          <a:prstGeom prst="roundRect">
            <a:avLst>
              <a:gd name="adj" fmla="val 5854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276088" y="1874520"/>
            <a:ext cx="5891479" cy="64008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5440680" y="2057400"/>
            <a:ext cx="5562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בקו ישר בין שתי נקודות סמוכות כדי לחשב ערך חסר:</a:t>
            </a:r>
            <a:endParaRPr lang="he-IL" sz="2000" dirty="0"/>
          </a:p>
        </p:txBody>
      </p:sp>
      <p:pic>
        <p:nvPicPr>
          <p:cNvPr id="15" name="Image 2" descr="y=y_{1}+\dfrac{x-x_{1}}{x_{2}-x_{1}}*(y_{2}-y_{1}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028" y="2810256"/>
            <a:ext cx="2895600" cy="5974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166360" y="3977640"/>
            <a:ext cx="6110935" cy="777240"/>
          </a:xfrm>
          <a:prstGeom prst="roundRect">
            <a:avLst>
              <a:gd name="adj" fmla="val 14118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1185855" y="4087368"/>
            <a:ext cx="91440" cy="557784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5440680" y="3977640"/>
            <a:ext cx="5562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מתאימה רק לקטעים קצרים שבהם הקשר כמעט ישר.</a:t>
            </a:r>
            <a:endParaRPr lang="he-IL" sz="2000" dirty="0"/>
          </a:p>
        </p:txBody>
      </p:sp>
      <p:sp>
        <p:nvSpPr>
          <p:cNvPr id="19" name="a2"/>
          <p:cNvSpPr/>
          <p:nvPr/>
        </p:nvSpPr>
        <p:spPr>
          <a:xfrm>
            <a:off x="5166360" y="4983480"/>
            <a:ext cx="6110935" cy="1143000"/>
          </a:xfrm>
          <a:prstGeom prst="roundRect">
            <a:avLst>
              <a:gd name="adj" fmla="val 9600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2"/>
          <p:cNvSpPr txBox="1"/>
          <p:nvPr/>
        </p:nvSpPr>
        <p:spPr>
          <a:xfrm>
            <a:off x="5440680" y="4983480"/>
            <a:ext cx="5562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כאשר המדידות מדוייקות יחסית והמרחקים קצרים יכולה להתאים גם למערכות לא לינאריות (קירוב לקו ישר).</a:t>
            </a:r>
            <a:endParaRPr lang="he-IL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התאמת עקומות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3584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3794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התאמת קו ישר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1"/>
          <p:cNvSpPr/>
          <p:nvPr/>
        </p:nvSpPr>
        <p:spPr>
          <a:xfrm>
            <a:off x="914400" y="2423160"/>
            <a:ext cx="4572000" cy="2844428"/>
          </a:xfrm>
          <a:prstGeom prst="roundRect">
            <a:avLst>
              <a:gd name="adj" fmla="val 3858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a1" descr="שני ישרים שהותאמו לנתונים לפי זוגות נקודות שונים: y = 2.075x - 0.075 (נק' 1,5) ו-y = 1.7x + 0.8 (נק' 2,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567831"/>
            <a:ext cx="4389120" cy="255508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0" y="1874520"/>
            <a:ext cx="5470855" cy="777240"/>
          </a:xfrm>
          <a:prstGeom prst="roundRect">
            <a:avLst>
              <a:gd name="adj" fmla="val 14118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185855" y="1984248"/>
            <a:ext cx="91440" cy="557784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080760" y="1874520"/>
            <a:ext cx="4922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כאשר הנתונים מציגים קו ישר יחסית ללא רעשים. ("לפי העין")</a:t>
            </a:r>
            <a:endParaRPr lang="he-IL" sz="1900" dirty="0"/>
          </a:p>
        </p:txBody>
      </p:sp>
      <p:sp>
        <p:nvSpPr>
          <p:cNvPr id="13" name="Shape 10"/>
          <p:cNvSpPr/>
          <p:nvPr/>
        </p:nvSpPr>
        <p:spPr>
          <a:xfrm>
            <a:off x="10865815" y="2852928"/>
            <a:ext cx="384048" cy="384048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865815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2788920"/>
            <a:ext cx="4922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נבחר שתי נקודות שמייצגות את המגמה באופן כללי</a:t>
            </a:r>
            <a:endParaRPr lang="he-IL" sz="2000" dirty="0"/>
          </a:p>
        </p:txBody>
      </p:sp>
      <p:sp>
        <p:nvSpPr>
          <p:cNvPr id="16" name="a2"/>
          <p:cNvSpPr/>
          <p:nvPr/>
        </p:nvSpPr>
        <p:spPr>
          <a:xfrm>
            <a:off x="10865815" y="3401568"/>
            <a:ext cx="384048" cy="384048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a2"/>
          <p:cNvSpPr txBox="1"/>
          <p:nvPr/>
        </p:nvSpPr>
        <p:spPr>
          <a:xfrm>
            <a:off x="10865815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a2"/>
          <p:cNvSpPr txBox="1"/>
          <p:nvPr/>
        </p:nvSpPr>
        <p:spPr>
          <a:xfrm>
            <a:off x="5806440" y="3337560"/>
            <a:ext cx="4922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נשתמש בערכים אלו למציאת משוואת ישר</a:t>
            </a:r>
            <a:endParaRPr lang="he-IL" sz="2000" dirty="0"/>
          </a:p>
        </p:txBody>
      </p:sp>
      <p:sp>
        <p:nvSpPr>
          <p:cNvPr id="19" name="a3"/>
          <p:cNvSpPr/>
          <p:nvPr/>
        </p:nvSpPr>
        <p:spPr>
          <a:xfrm>
            <a:off x="5806440" y="3977640"/>
            <a:ext cx="5470855" cy="1188720"/>
          </a:xfrm>
          <a:prstGeom prst="rect">
            <a:avLst/>
          </a:prstGeom>
          <a:solidFill>
            <a:srgbClr val="EEF5E2"/>
          </a:solidFill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a3" descr="y=ax+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519" y="4336288"/>
            <a:ext cx="1495552" cy="471424"/>
          </a:xfrm>
          <a:prstGeom prst="rect">
            <a:avLst/>
          </a:prstGeom>
        </p:spPr>
      </p:pic>
      <p:sp>
        <p:nvSpPr>
          <p:cNvPr id="21" name="a3"/>
          <p:cNvSpPr txBox="1"/>
          <p:nvPr/>
        </p:nvSpPr>
        <p:spPr>
          <a:xfrm>
            <a:off x="5943600" y="3977640"/>
            <a:ext cx="32305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 תלויה בנק' שנבחרו</a:t>
            </a:r>
            <a:endParaRPr lang="he-IL" sz="1800" dirty="0"/>
          </a:p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ניתן לבנות מספר ישרים, ולעשות ממוצע לקבועים.</a:t>
            </a:r>
            <a:endParaRPr lang="he-IL" sz="1800" dirty="0"/>
          </a:p>
        </p:txBody>
      </p:sp>
      <p:sp>
        <p:nvSpPr>
          <p:cNvPr id="22" name="a4"/>
          <p:cNvSpPr/>
          <p:nvPr/>
        </p:nvSpPr>
        <p:spPr>
          <a:xfrm>
            <a:off x="5806440" y="5257800"/>
            <a:ext cx="547085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4"/>
          <p:cNvSpPr txBox="1"/>
          <p:nvPr/>
        </p:nvSpPr>
        <p:spPr>
          <a:xfrm>
            <a:off x="6035040" y="5257800"/>
            <a:ext cx="5013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מאפשר לבצע גם אינטרפולציה וגם אקסטרפולציה, אך האמינות פוחתת מחוץ לטווח הנתונים.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התאמת עקומות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3584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3794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רגרסיה לינארית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1"/>
          <p:cNvSpPr/>
          <p:nvPr/>
        </p:nvSpPr>
        <p:spPr>
          <a:xfrm>
            <a:off x="914400" y="1874520"/>
            <a:ext cx="54864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a1" descr="גרף פיזור של 20 נקודות וקו רגרסיה y = 1.8512x + 3.6839, R² = 0.97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23110"/>
            <a:ext cx="5303520" cy="33147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20840" y="1874520"/>
            <a:ext cx="4556455" cy="914400"/>
          </a:xfrm>
          <a:prstGeom prst="roundRect">
            <a:avLst>
              <a:gd name="adj" fmla="val 12000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185855" y="1984248"/>
            <a:ext cx="91440" cy="694944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995160" y="1874520"/>
            <a:ext cx="4007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כאשר הנתונים מפוזרים סביב הקו – נשתמש ברגרסיה ליניארית.</a:t>
            </a:r>
            <a:endParaRPr lang="he-IL" sz="2000" dirty="0"/>
          </a:p>
        </p:txBody>
      </p:sp>
      <p:sp>
        <p:nvSpPr>
          <p:cNvPr id="13" name="a2"/>
          <p:cNvSpPr txBox="1"/>
          <p:nvPr/>
        </p:nvSpPr>
        <p:spPr>
          <a:xfrm>
            <a:off x="6720840" y="2971800"/>
            <a:ext cx="4556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r" rtl="1">
              <a:spcAft>
                <a:spcPts val="10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השיטה מוצאת את הקו שממזער את סכום ריבועי השגיאות.</a:t>
            </a:r>
            <a:endParaRPr lang="he-IL" sz="1800" dirty="0"/>
          </a:p>
          <a:p>
            <a:pPr marL="177800" indent="-177800" algn="r" rtl="1">
              <a:spcAft>
                <a:spcPts val="10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מספקת מדדים לאיכות ההתאמה (כמו R²).</a:t>
            </a:r>
            <a:endParaRPr lang="he-IL" sz="1800" dirty="0"/>
          </a:p>
        </p:txBody>
      </p:sp>
      <p:sp>
        <p:nvSpPr>
          <p:cNvPr id="14" name="Shape 11"/>
          <p:cNvSpPr/>
          <p:nvPr/>
        </p:nvSpPr>
        <p:spPr>
          <a:xfrm>
            <a:off x="6995160" y="4389120"/>
            <a:ext cx="4282135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שיטת הריבועים הפחותים: נקודות נמדדות, ערכים חזויים על הקו והשאריות ביניהם; ממזערים את סכום ריבועי השאריות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223" y="4480560"/>
            <a:ext cx="3268009" cy="1554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התאמת עקומות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3584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3794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התאמה לא לינארית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1"/>
          <p:cNvSpPr/>
          <p:nvPr/>
        </p:nvSpPr>
        <p:spPr>
          <a:xfrm>
            <a:off x="914400" y="1874520"/>
            <a:ext cx="47548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a1" descr="נקודות y = 2x³ עבור x = 1 עד 6 ועקומה מותאמת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23110"/>
            <a:ext cx="4572000" cy="28575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89320" y="1874520"/>
            <a:ext cx="5287975" cy="868680"/>
          </a:xfrm>
          <a:prstGeom prst="roundRect">
            <a:avLst>
              <a:gd name="adj" fmla="val 12632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185855" y="1984248"/>
            <a:ext cx="91440" cy="649224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263640" y="1874520"/>
            <a:ext cx="4739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כאשר הקשר אינו ליניארי (אקספוננציאלי, חזקתי וכד') – נשתמש בעקומה מתאימה.</a:t>
            </a:r>
            <a:endParaRPr lang="he-IL" sz="1900" dirty="0"/>
          </a:p>
        </p:txBody>
      </p:sp>
      <p:sp>
        <p:nvSpPr>
          <p:cNvPr id="13" name="Shape 10"/>
          <p:cNvSpPr/>
          <p:nvPr/>
        </p:nvSpPr>
        <p:spPr>
          <a:xfrm>
            <a:off x="5989320" y="2926080"/>
            <a:ext cx="5287975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875">
            <a:solidFill>
              <a:srgbClr val="549E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9814255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i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</a:t>
            </a:r>
            <a:endParaRPr lang="he-IL" sz="1800" dirty="0"/>
          </a:p>
        </p:txBody>
      </p:sp>
      <p:pic>
        <p:nvPicPr>
          <p:cNvPr id="15" name="Image 1" descr="y=ae^{bx}\ \ ;\ \ y=ax^{b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850" y="3221228"/>
            <a:ext cx="1994916" cy="324104"/>
          </a:xfrm>
          <a:prstGeom prst="rect">
            <a:avLst/>
          </a:prstGeom>
        </p:spPr>
      </p:pic>
      <p:pic>
        <p:nvPicPr>
          <p:cNvPr id="16" name="Image 2" descr="y=a(x-x_{0})^{2}+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5992" y="3650996"/>
            <a:ext cx="1754632" cy="324104"/>
          </a:xfrm>
          <a:prstGeom prst="rect">
            <a:avLst/>
          </a:prstGeom>
        </p:spPr>
      </p:pic>
      <p:sp>
        <p:nvSpPr>
          <p:cNvPr id="17" name="a2"/>
          <p:cNvSpPr txBox="1"/>
          <p:nvPr/>
        </p:nvSpPr>
        <p:spPr>
          <a:xfrm>
            <a:off x="5989320" y="4297680"/>
            <a:ext cx="52879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העקומה יכולה להיות אמפירית בלבד או להתבסס על מודל פיסיקלי</a:t>
            </a:r>
            <a:endParaRPr lang="he-IL" sz="1800" dirty="0"/>
          </a:p>
        </p:txBody>
      </p:sp>
      <p:sp>
        <p:nvSpPr>
          <p:cNvPr id="18" name="a3"/>
          <p:cNvSpPr txBox="1"/>
          <p:nvPr/>
        </p:nvSpPr>
        <p:spPr>
          <a:xfrm>
            <a:off x="5989320" y="4754880"/>
            <a:ext cx="52879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ההתאמה נעשית לרוב בעזרת חישוב ממוחשב.</a:t>
            </a:r>
            <a:endParaRPr lang="he-IL" sz="1800" dirty="0"/>
          </a:p>
        </p:txBody>
      </p:sp>
      <p:sp>
        <p:nvSpPr>
          <p:cNvPr id="19" name="a4"/>
          <p:cNvSpPr txBox="1"/>
          <p:nvPr/>
        </p:nvSpPr>
        <p:spPr>
          <a:xfrm>
            <a:off x="5989320" y="5212080"/>
            <a:ext cx="52879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קשה יותר להעריך בעין את איכות ההתאמה.</a:t>
            </a:r>
            <a:endParaRPr lang="he-IL" sz="1800" dirty="0"/>
          </a:p>
        </p:txBody>
      </p:sp>
      <p:sp>
        <p:nvSpPr>
          <p:cNvPr id="20" name="a5"/>
          <p:cNvSpPr txBox="1"/>
          <p:nvPr/>
        </p:nvSpPr>
        <p:spPr>
          <a:xfrm>
            <a:off x="5989320" y="5669280"/>
            <a:ext cx="52879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להיזהר מהתאמת יתר (Overfitting).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התאמת עקומות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3584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3794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לינאריזציה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1"/>
          <p:cNvSpPr/>
          <p:nvPr/>
        </p:nvSpPr>
        <p:spPr>
          <a:xfrm>
            <a:off x="914400" y="1874520"/>
            <a:ext cx="3108960" cy="212598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a1" descr="y = 2x³ מול x: עקומה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23110"/>
            <a:ext cx="2926080" cy="1828800"/>
          </a:xfrm>
          <a:prstGeom prst="rect">
            <a:avLst/>
          </a:prstGeom>
        </p:spPr>
      </p:pic>
      <p:sp>
        <p:nvSpPr>
          <p:cNvPr id="10" name="a2"/>
          <p:cNvSpPr/>
          <p:nvPr/>
        </p:nvSpPr>
        <p:spPr>
          <a:xfrm>
            <a:off x="4096512" y="2937510"/>
            <a:ext cx="411480" cy="0"/>
          </a:xfrm>
          <a:prstGeom prst="line">
            <a:avLst/>
          </a:prstGeom>
          <a:noFill/>
          <a:ln w="25400">
            <a:solidFill>
              <a:srgbClr val="3A752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a2"/>
          <p:cNvSpPr/>
          <p:nvPr/>
        </p:nvSpPr>
        <p:spPr>
          <a:xfrm>
            <a:off x="4572000" y="1874520"/>
            <a:ext cx="3108960" cy="212598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a2" descr="y מול z = x³: קו ישר y = 2z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23110"/>
            <a:ext cx="2926080" cy="1828800"/>
          </a:xfrm>
          <a:prstGeom prst="rect">
            <a:avLst/>
          </a:prstGeom>
        </p:spPr>
      </p:pic>
      <p:sp>
        <p:nvSpPr>
          <p:cNvPr id="13" name="a3"/>
          <p:cNvSpPr/>
          <p:nvPr/>
        </p:nvSpPr>
        <p:spPr>
          <a:xfrm>
            <a:off x="914400" y="422910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3"/>
          <p:cNvSpPr/>
          <p:nvPr/>
        </p:nvSpPr>
        <p:spPr>
          <a:xfrm>
            <a:off x="7589520" y="4338828"/>
            <a:ext cx="91440" cy="603504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a3"/>
          <p:cNvSpPr txBox="1"/>
          <p:nvPr/>
        </p:nvSpPr>
        <p:spPr>
          <a:xfrm>
            <a:off x="1188720" y="42291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יקרה ליחידות של ציר X?</a:t>
            </a:r>
            <a:endParaRPr lang="he-IL" sz="2000" dirty="0"/>
          </a:p>
        </p:txBody>
      </p:sp>
      <p:sp>
        <p:nvSpPr>
          <p:cNvPr id="16" name="Shape 12"/>
          <p:cNvSpPr/>
          <p:nvPr/>
        </p:nvSpPr>
        <p:spPr>
          <a:xfrm>
            <a:off x="8001000" y="1874520"/>
            <a:ext cx="3276295" cy="4251960"/>
          </a:xfrm>
          <a:prstGeom prst="roundRect">
            <a:avLst>
              <a:gd name="adj" fmla="val 3349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110728" y="1874520"/>
            <a:ext cx="3056839" cy="64008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8229600" y="2057400"/>
            <a:ext cx="2819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שיטה לפשט קשר לא ליניארי באמצעות שינוי משתנים.</a:t>
            </a:r>
            <a:endParaRPr lang="he-IL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8229600" y="3063240"/>
            <a:ext cx="281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לדוגמה, עבור</a:t>
            </a:r>
            <a:endParaRPr lang="he-IL" sz="1800" dirty="0"/>
          </a:p>
        </p:txBody>
      </p:sp>
      <p:pic>
        <p:nvPicPr>
          <p:cNvPr id="20" name="Image 2" descr="y=2x^{3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716" y="3480816"/>
            <a:ext cx="816864" cy="3535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29600" y="3977640"/>
            <a:ext cx="2819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נצייר גרף של </a:t>
            </a:r>
            <a:r>
              <a:rPr lang="en-US" altLang="en-US" sz="18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altLang="en-US" sz="1800" baseline="30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נגד y.</a:t>
            </a:r>
            <a:endParaRPr lang="he-IL" sz="1800" dirty="0"/>
          </a:p>
        </p:txBody>
      </p:sp>
      <p:sp>
        <p:nvSpPr>
          <p:cNvPr id="22" name="a4"/>
          <p:cNvSpPr/>
          <p:nvPr/>
        </p:nvSpPr>
        <p:spPr>
          <a:xfrm>
            <a:off x="8275320" y="4480560"/>
            <a:ext cx="2727655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4"/>
          <p:cNvSpPr txBox="1"/>
          <p:nvPr/>
        </p:nvSpPr>
        <p:spPr>
          <a:xfrm>
            <a:off x="8229600" y="4572000"/>
            <a:ext cx="281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באותו אופן עבור</a:t>
            </a:r>
            <a:endParaRPr lang="he-IL" sz="1800" dirty="0"/>
          </a:p>
        </p:txBody>
      </p:sp>
      <p:pic>
        <p:nvPicPr>
          <p:cNvPr id="24" name="a4" descr="y=ae^{bx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8044" y="4989576"/>
            <a:ext cx="902208" cy="353568"/>
          </a:xfrm>
          <a:prstGeom prst="rect">
            <a:avLst/>
          </a:prstGeom>
        </p:spPr>
      </p:pic>
      <p:sp>
        <p:nvSpPr>
          <p:cNvPr id="25" name="a4"/>
          <p:cNvSpPr txBox="1"/>
          <p:nvPr/>
        </p:nvSpPr>
        <p:spPr>
          <a:xfrm>
            <a:off x="8229600" y="5486400"/>
            <a:ext cx="2819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נצייר גרף של x כנגד ln(y).</a:t>
            </a:r>
            <a:endParaRPr lang="he-IL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22" grpId="0" animBg="1"/>
      <p:bldP spid="23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גרפים לוגריתמיים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358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2768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 לוג-לוג וסמי-לוג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1874520"/>
            <a:ext cx="103628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שיטה ותיקה להצגת קשרים אקספוננציאליים וחזקתיים.</a:t>
            </a:r>
            <a:endParaRPr lang="he-IL" sz="1800" dirty="0"/>
          </a:p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בגרף סמילוגי רק אחד הצירים לוגריתמי; בגרף לוג–לוג שניהם.</a:t>
            </a:r>
            <a:endParaRPr lang="he-IL" sz="1800" dirty="0"/>
          </a:p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הציר הלוגריתמי מבצע את פעולת הלוגריתם ומאפשר לזהות קשרים ישרים.</a:t>
            </a:r>
            <a:endParaRPr lang="he-IL" sz="1800" dirty="0"/>
          </a:p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 כמעט ולא מציירים גרפים כאלה ידנית, אך צריך לדעת לקרוא אותם.</a:t>
            </a:r>
            <a:endParaRPr lang="he-IL" sz="1800" dirty="0"/>
          </a:p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הבנה של גרפים כאלה עוזרת להעריך שינויים לוגריתמיים ואקספוננציאליים.</a:t>
            </a:r>
            <a:endParaRPr lang="he-IL" sz="1800" dirty="0"/>
          </a:p>
        </p:txBody>
      </p:sp>
      <p:sp>
        <p:nvSpPr>
          <p:cNvPr id="9" name="Shape 7"/>
          <p:cNvSpPr/>
          <p:nvPr/>
        </p:nvSpPr>
        <p:spPr>
          <a:xfrm>
            <a:off x="6233008" y="3931920"/>
            <a:ext cx="504428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42736" y="3931920"/>
            <a:ext cx="4824832" cy="64008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037015" y="411480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9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לוגריתמי</a:t>
            </a:r>
            <a:endParaRPr lang="he-IL" sz="180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en-US" altLang="en-US" sz="18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paper</a:t>
            </a:r>
            <a:endParaRPr lang="he-IL" sz="1800" dirty="0"/>
          </a:p>
          <a:p>
            <a:pPr marL="0" indent="0" algn="r" rtl="1">
              <a:buNone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גרף ששני הצירים שלו הם על סקאלה לוגריתמית.</a:t>
            </a:r>
            <a:endParaRPr lang="he-IL" sz="1800" dirty="0"/>
          </a:p>
        </p:txBody>
      </p:sp>
      <p:pic>
        <p:nvPicPr>
          <p:cNvPr id="12" name="Image 0" descr="דף גרף לוגריתמ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8" y="4203871"/>
            <a:ext cx="2529688" cy="169637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3931920"/>
            <a:ext cx="504428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24128" y="3931920"/>
            <a:ext cx="4824832" cy="64008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718408" y="411480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9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סמילוגריתמי</a:t>
            </a:r>
            <a:endParaRPr lang="he-IL" sz="1800" dirty="0"/>
          </a:p>
          <a:p>
            <a:pPr marL="0" indent="0" algn="r" rtl="1">
              <a:spcAft>
                <a:spcPts val="800"/>
              </a:spcAft>
              <a:buNone/>
            </a:pPr>
            <a:r>
              <a:rPr lang="en-US" altLang="en-US" sz="18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semilog paper</a:t>
            </a:r>
            <a:endParaRPr lang="he-IL" sz="1800" dirty="0"/>
          </a:p>
          <a:p>
            <a:pPr marL="0" indent="0" algn="r" rtl="1">
              <a:buNone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גרף בעל ציר לוגריתמי וציר רגיל.</a:t>
            </a:r>
            <a:endParaRPr lang="he-IL" sz="1800" dirty="0"/>
          </a:p>
        </p:txBody>
      </p:sp>
      <p:pic>
        <p:nvPicPr>
          <p:cNvPr id="16" name="Image 1" descr="דף גרף סמי-לוגריתמי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00822"/>
            <a:ext cx="2529688" cy="13024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גרפים לוגריתמיים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358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2768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גרף לוגריתמי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10362895" cy="685800"/>
          </a:xfrm>
          <a:prstGeom prst="roundRect">
            <a:avLst>
              <a:gd name="adj" fmla="val 16000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85855" y="1984248"/>
            <a:ext cx="91440" cy="466344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188720" y="187452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היכן נמצא הערך 5 על גבי הסקאלה?</a:t>
            </a:r>
            <a:endParaRPr lang="he-IL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743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18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סקאלה לינארית</a:t>
            </a:r>
            <a:endParaRPr lang="he-IL" sz="1800" dirty="0"/>
          </a:p>
        </p:txBody>
      </p:sp>
      <p:sp>
        <p:nvSpPr>
          <p:cNvPr id="12" name="Shape 10"/>
          <p:cNvSpPr/>
          <p:nvPr/>
        </p:nvSpPr>
        <p:spPr>
          <a:xfrm>
            <a:off x="1737360" y="3429000"/>
            <a:ext cx="8686800" cy="0"/>
          </a:xfrm>
          <a:prstGeom prst="line">
            <a:avLst/>
          </a:prstGeom>
          <a:noFill/>
          <a:ln w="254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373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025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677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329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981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633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285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937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4589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4241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4630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4572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18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סקאלה לוגריתמית</a:t>
            </a:r>
            <a:endParaRPr lang="he-IL" sz="1800" dirty="0"/>
          </a:p>
        </p:txBody>
      </p:sp>
      <p:sp>
        <p:nvSpPr>
          <p:cNvPr id="26" name="Shape 24"/>
          <p:cNvSpPr/>
          <p:nvPr/>
        </p:nvSpPr>
        <p:spPr>
          <a:xfrm>
            <a:off x="1737360" y="5257800"/>
            <a:ext cx="8686800" cy="0"/>
          </a:xfrm>
          <a:prstGeom prst="line">
            <a:avLst/>
          </a:prstGeom>
          <a:noFill/>
          <a:ln w="254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737360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52347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82017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67335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09173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497004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078558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82322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026674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424160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463040" y="5440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0" y="5440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9" name="a1"/>
          <p:cNvSpPr/>
          <p:nvPr/>
        </p:nvSpPr>
        <p:spPr>
          <a:xfrm>
            <a:off x="5323840" y="3611880"/>
            <a:ext cx="548640" cy="658368"/>
          </a:xfrm>
          <a:prstGeom prst="upArrow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a1"/>
          <p:cNvSpPr txBox="1"/>
          <p:nvPr/>
        </p:nvSpPr>
        <p:spPr>
          <a:xfrm>
            <a:off x="5323840" y="3886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1" name="a2"/>
          <p:cNvSpPr/>
          <p:nvPr/>
        </p:nvSpPr>
        <p:spPr>
          <a:xfrm>
            <a:off x="7534853" y="5440680"/>
            <a:ext cx="548640" cy="658368"/>
          </a:xfrm>
          <a:prstGeom prst="upArrow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a2"/>
          <p:cNvSpPr txBox="1"/>
          <p:nvPr/>
        </p:nvSpPr>
        <p:spPr>
          <a:xfrm>
            <a:off x="7534853" y="5715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גרפים לוגריתמיים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358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2768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גרף לוגריתמי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10362895" cy="685800"/>
          </a:xfrm>
          <a:prstGeom prst="roundRect">
            <a:avLst>
              <a:gd name="adj" fmla="val 16000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85855" y="1984248"/>
            <a:ext cx="91440" cy="466344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188720" y="187452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מהו הערך שמסומן בקו האדום?</a:t>
            </a:r>
            <a:endParaRPr lang="he-IL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743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18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סקאלה לינארית</a:t>
            </a:r>
            <a:endParaRPr lang="he-IL" sz="1800" dirty="0"/>
          </a:p>
        </p:txBody>
      </p:sp>
      <p:sp>
        <p:nvSpPr>
          <p:cNvPr id="12" name="Shape 10"/>
          <p:cNvSpPr/>
          <p:nvPr/>
        </p:nvSpPr>
        <p:spPr>
          <a:xfrm>
            <a:off x="1737360" y="3429000"/>
            <a:ext cx="8686800" cy="0"/>
          </a:xfrm>
          <a:prstGeom prst="line">
            <a:avLst/>
          </a:prstGeom>
          <a:noFill/>
          <a:ln w="254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373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025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677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329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981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633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285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937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4589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424160" y="32918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4630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4572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18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סקאלה לוגריתמית</a:t>
            </a:r>
            <a:endParaRPr lang="he-IL" sz="1800" dirty="0"/>
          </a:p>
        </p:txBody>
      </p:sp>
      <p:sp>
        <p:nvSpPr>
          <p:cNvPr id="26" name="Shape 24"/>
          <p:cNvSpPr/>
          <p:nvPr/>
        </p:nvSpPr>
        <p:spPr>
          <a:xfrm>
            <a:off x="1737360" y="5257800"/>
            <a:ext cx="8686800" cy="0"/>
          </a:xfrm>
          <a:prstGeom prst="line">
            <a:avLst/>
          </a:prstGeom>
          <a:noFill/>
          <a:ln w="254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737360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52347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82017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67335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09173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497004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078558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82322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026674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424160" y="5120640"/>
            <a:ext cx="0" cy="27432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463040" y="5440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0" y="5440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493760" y="2926080"/>
            <a:ext cx="0" cy="777240"/>
          </a:xfrm>
          <a:prstGeom prst="line">
            <a:avLst/>
          </a:prstGeom>
          <a:noFill/>
          <a:ln w="381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493760" y="4754880"/>
            <a:ext cx="0" cy="777240"/>
          </a:xfrm>
          <a:prstGeom prst="line">
            <a:avLst/>
          </a:prstGeom>
          <a:noFill/>
          <a:ln w="381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a1"/>
          <p:cNvSpPr/>
          <p:nvPr/>
        </p:nvSpPr>
        <p:spPr>
          <a:xfrm>
            <a:off x="5323840" y="3611880"/>
            <a:ext cx="548640" cy="658368"/>
          </a:xfrm>
          <a:prstGeom prst="upArrow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a1"/>
          <p:cNvSpPr txBox="1"/>
          <p:nvPr/>
        </p:nvSpPr>
        <p:spPr>
          <a:xfrm>
            <a:off x="5323840" y="3886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a2"/>
          <p:cNvSpPr/>
          <p:nvPr/>
        </p:nvSpPr>
        <p:spPr>
          <a:xfrm>
            <a:off x="7534853" y="5440680"/>
            <a:ext cx="548640" cy="658368"/>
          </a:xfrm>
          <a:prstGeom prst="upArrow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a2"/>
          <p:cNvSpPr txBox="1"/>
          <p:nvPr/>
        </p:nvSpPr>
        <p:spPr>
          <a:xfrm>
            <a:off x="7534853" y="5715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5" name="a3"/>
          <p:cNvSpPr/>
          <p:nvPr/>
        </p:nvSpPr>
        <p:spPr>
          <a:xfrm>
            <a:off x="8219440" y="3611880"/>
            <a:ext cx="548640" cy="658368"/>
          </a:xfrm>
          <a:prstGeom prst="upArrow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a3"/>
          <p:cNvSpPr txBox="1"/>
          <p:nvPr/>
        </p:nvSpPr>
        <p:spPr>
          <a:xfrm>
            <a:off x="8219440" y="3886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47" name="a4"/>
          <p:cNvSpPr/>
          <p:nvPr/>
        </p:nvSpPr>
        <p:spPr>
          <a:xfrm>
            <a:off x="8219440" y="5440680"/>
            <a:ext cx="548640" cy="658368"/>
          </a:xfrm>
          <a:prstGeom prst="upArrow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a4"/>
          <p:cNvSpPr txBox="1"/>
          <p:nvPr/>
        </p:nvSpPr>
        <p:spPr>
          <a:xfrm>
            <a:off x="8219440" y="5715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9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גרפים לוגריתמיים</a:t>
            </a:r>
            <a:endParaRPr lang="he-IL" sz="1800" dirty="0"/>
          </a:p>
        </p:txBody>
      </p:sp>
      <p:sp>
        <p:nvSpPr>
          <p:cNvPr id="4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24358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572768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אותן פונקציות בשלושה סוגי צירים</a:t>
            </a:r>
            <a:endParaRPr lang="he-IL" sz="3400" dirty="0"/>
          </a:p>
        </p:txBody>
      </p:sp>
      <p:sp>
        <p:nvSpPr>
          <p:cNvPr id="8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005877" y="1874520"/>
            <a:ext cx="3271418" cy="4251960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שלוש פונקציות y=2x, y=exp(x), y=2x^1.8 בצירים ליניאריי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937" y="1965960"/>
            <a:ext cx="2979299" cy="4069080"/>
          </a:xfrm>
          <a:prstGeom prst="rect">
            <a:avLst/>
          </a:prstGeom>
        </p:spPr>
      </p:pic>
      <p:sp>
        <p:nvSpPr>
          <p:cNvPr id="11" name="a1"/>
          <p:cNvSpPr/>
          <p:nvPr/>
        </p:nvSpPr>
        <p:spPr>
          <a:xfrm>
            <a:off x="4460138" y="1874520"/>
            <a:ext cx="3271418" cy="4251960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a1" descr="אותן פונקציות בגרף חצי-לוגריתמי: האקספוננט הופך לקו ישר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790" y="1965960"/>
            <a:ext cx="2982115" cy="4069080"/>
          </a:xfrm>
          <a:prstGeom prst="rect">
            <a:avLst/>
          </a:prstGeom>
        </p:spPr>
      </p:pic>
      <p:sp>
        <p:nvSpPr>
          <p:cNvPr id="13" name="a2"/>
          <p:cNvSpPr/>
          <p:nvPr/>
        </p:nvSpPr>
        <p:spPr>
          <a:xfrm>
            <a:off x="914400" y="1874520"/>
            <a:ext cx="3271418" cy="4251960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a2" descr="אותן פונקציות בגרף לוג-לוג: הפונקציות החזקתיות הופכות לקווים ישרים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019" y="1965960"/>
            <a:ext cx="2984180" cy="4069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1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14600" y="-137160"/>
            <a:ext cx="1371600" cy="658368"/>
          </a:xfrm>
          <a:prstGeom prst="roundRect">
            <a:avLst>
              <a:gd name="adj" fmla="val 16667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514600" y="45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he-IL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גרפים לוגריתמיים</a:t>
            </a:r>
            <a:endParaRPr lang="he-IL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4358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72768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he-IL" sz="3400" dirty="0"/>
          </a:p>
        </p:txBody>
      </p:sp>
      <p:sp>
        <p:nvSpPr>
          <p:cNvPr id="9" name="Shape 7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1874520"/>
            <a:ext cx="10362895" cy="4251960"/>
          </a:xfrm>
          <a:prstGeom prst="roundRect">
            <a:avLst>
              <a:gd name="adj" fmla="val 3871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91495" y="2148840"/>
            <a:ext cx="384048" cy="384048"/>
          </a:xfrm>
          <a:prstGeom prst="ellipse">
            <a:avLst/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591495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075688"/>
            <a:ext cx="9219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מטרת הניתוח</a:t>
            </a:r>
            <a:r>
              <a:rPr lang="he-IL" altLang="en-US" sz="2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למצוא מודל מתמטי אמין שמתאר את הנתונים.</a:t>
            </a:r>
            <a:endParaRPr lang="he-IL" sz="1800" dirty="0"/>
          </a:p>
        </p:txBody>
      </p:sp>
      <p:sp>
        <p:nvSpPr>
          <p:cNvPr id="14" name="Shape 12"/>
          <p:cNvSpPr/>
          <p:nvPr/>
        </p:nvSpPr>
        <p:spPr>
          <a:xfrm>
            <a:off x="7533437" y="2834640"/>
            <a:ext cx="282945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43165" y="2834640"/>
            <a:ext cx="2610002" cy="64008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16317" y="3017520"/>
            <a:ext cx="2463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600"/>
              </a:spcAft>
              <a:buNone/>
            </a:pPr>
            <a:r>
              <a:rPr lang="he-IL" altLang="en-US" sz="20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אינטרפולציה מקומית</a:t>
            </a:r>
            <a:endParaRPr lang="he-IL" sz="1800" dirty="0"/>
          </a:p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חיזוי נקודתי</a:t>
            </a:r>
            <a:endParaRPr lang="he-IL" sz="1800" dirty="0"/>
          </a:p>
        </p:txBody>
      </p:sp>
      <p:sp>
        <p:nvSpPr>
          <p:cNvPr id="17" name="Shape 15"/>
          <p:cNvSpPr/>
          <p:nvPr/>
        </p:nvSpPr>
        <p:spPr>
          <a:xfrm>
            <a:off x="4475378" y="2834640"/>
            <a:ext cx="282945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85106" y="2834640"/>
            <a:ext cx="2610002" cy="64008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658258" y="3017520"/>
            <a:ext cx="2463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600"/>
              </a:spcAft>
              <a:buNone/>
            </a:pPr>
            <a:r>
              <a:rPr lang="he-IL" altLang="en-US" sz="20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התאמה ורגרסיה</a:t>
            </a:r>
            <a:endParaRPr lang="he-IL" sz="1800" dirty="0"/>
          </a:p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כולל.</a:t>
            </a:r>
            <a:endParaRPr lang="he-IL" sz="1800" dirty="0"/>
          </a:p>
        </p:txBody>
      </p:sp>
      <p:sp>
        <p:nvSpPr>
          <p:cNvPr id="20" name="Shape 18"/>
          <p:cNvSpPr/>
          <p:nvPr/>
        </p:nvSpPr>
        <p:spPr>
          <a:xfrm>
            <a:off x="1417320" y="2834640"/>
            <a:ext cx="282945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27048" y="2834640"/>
            <a:ext cx="2610002" cy="64008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600200" y="3017520"/>
            <a:ext cx="2463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600"/>
              </a:spcAft>
              <a:buNone/>
            </a:pPr>
            <a:r>
              <a:rPr lang="he-IL" altLang="en-US" sz="20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לינאריזציה וגרפים לוגריתמיים</a:t>
            </a:r>
            <a:endParaRPr lang="he-IL" sz="1800" dirty="0"/>
          </a:p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הצגה פשוטה של קשרים מורכבים.</a:t>
            </a:r>
            <a:endParaRPr lang="he-IL" sz="1800" dirty="0"/>
          </a:p>
        </p:txBody>
      </p:sp>
      <p:sp>
        <p:nvSpPr>
          <p:cNvPr id="23" name="Shape 21"/>
          <p:cNvSpPr/>
          <p:nvPr/>
        </p:nvSpPr>
        <p:spPr>
          <a:xfrm>
            <a:off x="10591495" y="4846320"/>
            <a:ext cx="384048" cy="384048"/>
          </a:xfrm>
          <a:prstGeom prst="ellipse">
            <a:avLst/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591495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709160"/>
            <a:ext cx="9219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בעידן דיגיטלי – חשוב להבין את העקרונות כדי להעריך אמינות תוצאות.</a:t>
            </a:r>
            <a:endParaRPr lang="he-IL" sz="2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07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גרפים לוגריתמיים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358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2768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– מבוא להנדסת תהליכים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2651760" cy="4251960"/>
          </a:xfrm>
          <a:prstGeom prst="roundRect">
            <a:avLst>
              <a:gd name="adj" fmla="val 4138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1874520"/>
            <a:ext cx="2651760" cy="548640"/>
          </a:xfrm>
          <a:prstGeom prst="rect">
            <a:avLst/>
          </a:prstGeom>
          <a:solidFill>
            <a:srgbClr val="D9D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14300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נושאים</a:t>
            </a:r>
            <a:endParaRPr lang="he-IL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0604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r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מימדים ויחידות, מערכות של יחידות, פקטור מעבר</a:t>
            </a:r>
            <a:endParaRPr lang="he-IL" sz="1800" dirty="0"/>
          </a:p>
          <a:p>
            <a:pPr marL="177800" indent="-177800" algn="r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כח ומסה</a:t>
            </a:r>
            <a:endParaRPr lang="he-IL" sz="1800" dirty="0"/>
          </a:p>
          <a:p>
            <a:pPr marL="177800" indent="-177800" algn="r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חישובים נומריים והערכות</a:t>
            </a:r>
            <a:endParaRPr lang="he-IL" sz="1800" dirty="0"/>
          </a:p>
          <a:p>
            <a:pPr marL="177800" indent="-177800" algn="r" rtl="1">
              <a:spcAft>
                <a:spcPts val="10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הומוגניות ומספרים חסרי מימד</a:t>
            </a:r>
            <a:endParaRPr lang="he-IL" sz="1800" dirty="0"/>
          </a:p>
          <a:p>
            <a:pPr marL="177800" indent="-177800" algn="r" rtl="1">
              <a:spcAft>
                <a:spcPts val="1000"/>
              </a:spcAft>
              <a:buSzPct val="100000"/>
              <a:buChar char="•"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והצגת נתוני תהליך</a:t>
            </a:r>
            <a:endParaRPr lang="he-IL" sz="1800" dirty="0"/>
          </a:p>
        </p:txBody>
      </p:sp>
      <p:sp>
        <p:nvSpPr>
          <p:cNvPr id="12" name="Shape 10"/>
          <p:cNvSpPr/>
          <p:nvPr/>
        </p:nvSpPr>
        <p:spPr>
          <a:xfrm>
            <a:off x="3840480" y="1874520"/>
            <a:ext cx="7436815" cy="548640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069080" y="1874520"/>
            <a:ext cx="6979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תפוקות למידה - בסיום מוצלח של פרק זה תוכלו:</a:t>
            </a:r>
            <a:endParaRPr lang="he-IL" sz="2000" dirty="0"/>
          </a:p>
        </p:txBody>
      </p:sp>
      <p:sp>
        <p:nvSpPr>
          <p:cNvPr id="14" name="Shape 12"/>
          <p:cNvSpPr/>
          <p:nvPr/>
        </p:nvSpPr>
        <p:spPr>
          <a:xfrm>
            <a:off x="3840480" y="2509520"/>
            <a:ext cx="7436815" cy="3302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023360" y="2509520"/>
            <a:ext cx="70710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להמיר</a:t>
            </a: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גדלים פיזיקליים בין מערכות יחידות שונות בעזרת פקטורי מעבר.</a:t>
            </a:r>
            <a:endParaRPr lang="he-IL" sz="1800" dirty="0"/>
          </a:p>
        </p:txBody>
      </p:sp>
      <p:sp>
        <p:nvSpPr>
          <p:cNvPr id="16" name="Shape 14"/>
          <p:cNvSpPr/>
          <p:nvPr/>
        </p:nvSpPr>
        <p:spPr>
          <a:xfrm>
            <a:off x="3840480" y="2875280"/>
            <a:ext cx="7436815" cy="546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023360" y="2875280"/>
            <a:ext cx="7071055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לקבוע</a:t>
            </a: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מספר ספרות משמעותיות בערך נתון, ולבחור את מספר הספרות המשמעותיות הנדרשות בתוצאות של פעולות חשבון.</a:t>
            </a:r>
            <a:endParaRPr lang="he-IL" sz="1800" dirty="0"/>
          </a:p>
        </p:txBody>
      </p:sp>
      <p:sp>
        <p:nvSpPr>
          <p:cNvPr id="18" name="Shape 16"/>
          <p:cNvSpPr/>
          <p:nvPr/>
        </p:nvSpPr>
        <p:spPr>
          <a:xfrm>
            <a:off x="3840480" y="3456940"/>
            <a:ext cx="7436815" cy="5461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023360" y="3456940"/>
            <a:ext cx="7071055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לזהות</a:t>
            </a: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יחידות מקובלות למסה ולמשקל במערכות SI, CGS ואמריקאיות, לחשב משקל מתוך מסה ביחידות טבעיות או מוגדרות.</a:t>
            </a:r>
            <a:endParaRPr lang="he-IL" sz="1800" dirty="0"/>
          </a:p>
        </p:txBody>
      </p:sp>
      <p:sp>
        <p:nvSpPr>
          <p:cNvPr id="20" name="Shape 18"/>
          <p:cNvSpPr/>
          <p:nvPr/>
        </p:nvSpPr>
        <p:spPr>
          <a:xfrm>
            <a:off x="3840480" y="4038600"/>
            <a:ext cx="7436815" cy="546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023360" y="4038600"/>
            <a:ext cx="7071055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להסביר</a:t>
            </a: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את עקרון ההומוגניות הממדית של משוואות ולהחיל אותו על איברים לא ידועים.</a:t>
            </a:r>
            <a:endParaRPr lang="he-IL" sz="1800" dirty="0"/>
          </a:p>
        </p:txBody>
      </p:sp>
      <p:sp>
        <p:nvSpPr>
          <p:cNvPr id="22" name="Shape 20"/>
          <p:cNvSpPr/>
          <p:nvPr/>
        </p:nvSpPr>
        <p:spPr>
          <a:xfrm>
            <a:off x="3840480" y="4620260"/>
            <a:ext cx="7436815" cy="5461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023360" y="4620260"/>
            <a:ext cx="7071055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לבצע</a:t>
            </a: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אינטרפולציה ליניארית על נתונים, ולנתח מצבים שבהם השיטה עלולה להטעות</a:t>
            </a:r>
            <a:endParaRPr lang="he-IL" sz="1800" dirty="0"/>
          </a:p>
        </p:txBody>
      </p:sp>
      <p:sp>
        <p:nvSpPr>
          <p:cNvPr id="24" name="Shape 22"/>
          <p:cNvSpPr/>
          <p:nvPr/>
        </p:nvSpPr>
        <p:spPr>
          <a:xfrm>
            <a:off x="3840480" y="5201920"/>
            <a:ext cx="7436815" cy="330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023360" y="5201920"/>
            <a:ext cx="70710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לגזור</a:t>
            </a: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משוואת קו ישר משתי נקודות נתונות, ולהתאים קו ישר לנתונים ניסיוניים.</a:t>
            </a:r>
            <a:endParaRPr lang="he-IL" sz="1800" dirty="0"/>
          </a:p>
        </p:txBody>
      </p:sp>
      <p:sp>
        <p:nvSpPr>
          <p:cNvPr id="26" name="Shape 24"/>
          <p:cNvSpPr/>
          <p:nvPr/>
        </p:nvSpPr>
        <p:spPr>
          <a:xfrm>
            <a:off x="3840480" y="5567680"/>
            <a:ext cx="7436815" cy="5461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023360" y="5567680"/>
            <a:ext cx="7071055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לזהות</a:t>
            </a:r>
            <a:r>
              <a:rPr lang="he-IL" alt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ייצוגים גרפיים מתאימים (רגיל, חצי־לוגריתמי, לוגריתמי) עבור קשרים מסוג חזקה או אקספוננט; לקבוע פרמטרים מתוך גרף ליניארי</a:t>
            </a:r>
            <a:endParaRPr lang="he-IL" sz="1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20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גרפים לוגריתמיים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358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2768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ספרות משמעותיות בחישובים מדעיים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1"/>
          <p:cNvSpPr/>
          <p:nvPr/>
        </p:nvSpPr>
        <p:spPr>
          <a:xfrm>
            <a:off x="914400" y="187452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a1" descr="מד מהירות של רכב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136" y="1965960"/>
            <a:ext cx="1929968" cy="1828800"/>
          </a:xfrm>
          <a:prstGeom prst="rect">
            <a:avLst/>
          </a:prstGeom>
        </p:spPr>
      </p:pic>
      <p:sp>
        <p:nvSpPr>
          <p:cNvPr id="10" name="a2"/>
          <p:cNvSpPr/>
          <p:nvPr/>
        </p:nvSpPr>
        <p:spPr>
          <a:xfrm>
            <a:off x="914400" y="406908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a2" descr="שלט דרכים: באר שבע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642" y="4160520"/>
            <a:ext cx="2014956" cy="1874520"/>
          </a:xfrm>
          <a:prstGeom prst="rect">
            <a:avLst/>
          </a:prstGeom>
        </p:spPr>
      </p:pic>
      <p:sp>
        <p:nvSpPr>
          <p:cNvPr id="12" name="a3"/>
          <p:cNvSpPr txBox="1"/>
          <p:nvPr/>
        </p:nvSpPr>
        <p:spPr>
          <a:xfrm>
            <a:off x="3611880" y="1874520"/>
            <a:ext cx="7665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זמן יקח לנהג להגיע לבאר שבע?</a:t>
            </a:r>
            <a:endParaRPr lang="he-IL" sz="1800" dirty="0"/>
          </a:p>
        </p:txBody>
      </p:sp>
      <p:pic>
        <p:nvPicPr>
          <p:cNvPr id="13" name="a4" descr="\dfrac{46km}{\ }\left|\dfrac{1h}{114km}\right|=0.4035087\ldots 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802" y="2377135"/>
            <a:ext cx="3155493" cy="549250"/>
          </a:xfrm>
          <a:prstGeom prst="rect">
            <a:avLst/>
          </a:prstGeom>
        </p:spPr>
      </p:pic>
      <p:pic>
        <p:nvPicPr>
          <p:cNvPr id="14" name="a5" descr="\dfrac{0.4035087h}{\ }\left|\dfrac{60min}{h}\right|\dfrac{60s}{min}=1452.63\ldots 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7163" y="3060243"/>
            <a:ext cx="3850132" cy="554634"/>
          </a:xfrm>
          <a:prstGeom prst="rect">
            <a:avLst/>
          </a:prstGeom>
        </p:spPr>
      </p:pic>
      <p:sp>
        <p:nvSpPr>
          <p:cNvPr id="15" name="a6"/>
          <p:cNvSpPr txBox="1"/>
          <p:nvPr/>
        </p:nvSpPr>
        <p:spPr>
          <a:xfrm>
            <a:off x="3611880" y="3840480"/>
            <a:ext cx="7665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יש משמעות למספר השניות שחושב?</a:t>
            </a:r>
            <a:endParaRPr lang="he-IL" sz="1800" dirty="0"/>
          </a:p>
        </p:txBody>
      </p:sp>
      <p:sp>
        <p:nvSpPr>
          <p:cNvPr id="16" name="a7"/>
          <p:cNvSpPr txBox="1"/>
          <p:nvPr/>
        </p:nvSpPr>
        <p:spPr>
          <a:xfrm>
            <a:off x="3611880" y="4297680"/>
            <a:ext cx="7665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יקרה אם המהירות היא בעצם 114.5 קמ"ש?</a:t>
            </a:r>
            <a:endParaRPr lang="he-IL" sz="1800" dirty="0"/>
          </a:p>
        </p:txBody>
      </p:sp>
      <p:pic>
        <p:nvPicPr>
          <p:cNvPr id="17" name="a8" descr="\dfrac{46km}{\ }\left|\dfrac{1h}{114.5km}\right|=0.40174672\ldots h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5638" y="4754575"/>
            <a:ext cx="3451657" cy="549250"/>
          </a:xfrm>
          <a:prstGeom prst="rect">
            <a:avLst/>
          </a:prstGeom>
        </p:spPr>
      </p:pic>
      <p:pic>
        <p:nvPicPr>
          <p:cNvPr id="18" name="a9" descr="\dfrac{0.40174672h}{\ }\left|\dfrac{60min}{h}\right|\dfrac{60s}{min}=1446.28\ldots 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8698" y="5440375"/>
            <a:ext cx="3968598" cy="5492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גרפים לוגריתמיים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358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2768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ספרות משמעותיות בחישובים מדעיים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מד מהירות של רכב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136" y="1965960"/>
            <a:ext cx="1929968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406908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שלט דרכים: באר שבע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642" y="4160520"/>
            <a:ext cx="2014956" cy="18745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1874520"/>
            <a:ext cx="7665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באותו האופן, מה יקרה אם מרחק הנסיעה המדוייק שלנו הוא דווקא 45.8 ק"מ?</a:t>
            </a:r>
            <a:endParaRPr lang="he-IL" sz="1800" dirty="0"/>
          </a:p>
        </p:txBody>
      </p:sp>
      <p:pic>
        <p:nvPicPr>
          <p:cNvPr id="13" name="a1" descr="\dfrac{45.8km}{\ }\left|\dfrac{1h}{114km}\right|=0.4017543\ldots 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104" y="2557323"/>
            <a:ext cx="3333191" cy="554634"/>
          </a:xfrm>
          <a:prstGeom prst="rect">
            <a:avLst/>
          </a:prstGeom>
        </p:spPr>
      </p:pic>
      <p:pic>
        <p:nvPicPr>
          <p:cNvPr id="14" name="a2" descr="\dfrac{0.4017543h}{\ }\left|\dfrac{60min}{h}\right|\dfrac{60s}{min}=1446.31\ldots 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7163" y="3169971"/>
            <a:ext cx="3850132" cy="554634"/>
          </a:xfrm>
          <a:prstGeom prst="rect">
            <a:avLst/>
          </a:prstGeom>
        </p:spPr>
      </p:pic>
      <p:sp>
        <p:nvSpPr>
          <p:cNvPr id="15" name="a3"/>
          <p:cNvSpPr/>
          <p:nvPr/>
        </p:nvSpPr>
        <p:spPr>
          <a:xfrm>
            <a:off x="3611880" y="3931920"/>
            <a:ext cx="7665415" cy="640080"/>
          </a:xfrm>
          <a:prstGeom prst="roundRect">
            <a:avLst>
              <a:gd name="adj" fmla="val 17143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3"/>
          <p:cNvSpPr/>
          <p:nvPr/>
        </p:nvSpPr>
        <p:spPr>
          <a:xfrm>
            <a:off x="11185855" y="4041648"/>
            <a:ext cx="91440" cy="420624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a3"/>
          <p:cNvSpPr txBox="1"/>
          <p:nvPr/>
        </p:nvSpPr>
        <p:spPr>
          <a:xfrm>
            <a:off x="3886200" y="3931920"/>
            <a:ext cx="7116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הערכה מיטבית של זמן הנסיעה - בערך 1450 שניות.</a:t>
            </a:r>
            <a:endParaRPr lang="he-IL" sz="2000" dirty="0"/>
          </a:p>
        </p:txBody>
      </p:sp>
      <p:sp>
        <p:nvSpPr>
          <p:cNvPr id="18" name="a4"/>
          <p:cNvSpPr txBox="1"/>
          <p:nvPr/>
        </p:nvSpPr>
        <p:spPr>
          <a:xfrm>
            <a:off x="3611880" y="4663440"/>
            <a:ext cx="7665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20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ניתן לדעת מעבר כי הנתונים הראשוניים שלנו לא מספיק מדוייקים</a:t>
            </a:r>
            <a:endParaRPr lang="he-IL" sz="1800" dirty="0"/>
          </a:p>
        </p:txBody>
      </p:sp>
      <p:sp>
        <p:nvSpPr>
          <p:cNvPr id="19" name="a5"/>
          <p:cNvSpPr txBox="1"/>
          <p:nvPr/>
        </p:nvSpPr>
        <p:spPr>
          <a:xfrm>
            <a:off x="3611880" y="5349240"/>
            <a:ext cx="7665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20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בחישוב הזה לספרת האחדות ולספרות אחרי הנקודה אין משמעות.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גרפים לוגריתמיים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358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2768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שגיאות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55868" y="1874520"/>
            <a:ext cx="5021428" cy="4251960"/>
          </a:xfrm>
          <a:prstGeom prst="roundRect">
            <a:avLst>
              <a:gd name="adj" fmla="val 2581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65596" y="1874520"/>
            <a:ext cx="4801972" cy="64008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30188" y="2103120"/>
            <a:ext cx="4472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במדידה אחת, כאשר אין מידע נוסף, נתייחס לשגיאה כמחצית מהספרה המשמעותית האחרונה</a:t>
            </a:r>
            <a:endParaRPr lang="he-IL" sz="2000" dirty="0"/>
          </a:p>
        </p:txBody>
      </p:sp>
      <p:pic>
        <p:nvPicPr>
          <p:cNvPr id="11" name="Image 0" descr="25.2\pm 0.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731" y="3436620"/>
            <a:ext cx="1409700" cy="4419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38748" y="4343400"/>
            <a:ext cx="4655668" cy="1463040"/>
          </a:xfrm>
          <a:prstGeom prst="roundRect">
            <a:avLst>
              <a:gd name="adj" fmla="val 7500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1002975" y="4453128"/>
            <a:ext cx="91440" cy="1243584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713068" y="4343400"/>
            <a:ext cx="41070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שנדגום יותר פעמים, נוכל לקבל הערכה יותר מדוייקת של הערך והשגיאה</a:t>
            </a:r>
            <a:endParaRPr lang="he-IL" sz="2000" dirty="0"/>
          </a:p>
        </p:txBody>
      </p:sp>
      <p:sp>
        <p:nvSpPr>
          <p:cNvPr id="15" name="Shape 12"/>
          <p:cNvSpPr/>
          <p:nvPr/>
        </p:nvSpPr>
        <p:spPr>
          <a:xfrm>
            <a:off x="914400" y="1874520"/>
            <a:ext cx="5021428" cy="4251960"/>
          </a:xfrm>
          <a:prstGeom prst="roundRect">
            <a:avLst>
              <a:gd name="adj" fmla="val 2581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188720" y="2057400"/>
            <a:ext cx="44727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ממוצע המדגם</a:t>
            </a:r>
            <a:endParaRPr lang="he-IL" sz="2000" dirty="0"/>
          </a:p>
        </p:txBody>
      </p:sp>
      <p:pic>
        <p:nvPicPr>
          <p:cNvPr id="17" name="Image 1" descr="\bar{X}=\dfrac{1}{N}\sum_{i=1}^{N}X_{i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374" y="2621534"/>
            <a:ext cx="1173480" cy="60909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88720" y="3566160"/>
            <a:ext cx="44727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שונות </a:t>
            </a:r>
            <a:r>
              <a:rPr lang="en-US" altLang="en-US" sz="20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altLang="en-US" sz="2000" baseline="30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he-IL" altLang="en-US" sz="20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וסטיית תקן </a:t>
            </a:r>
            <a:r>
              <a:rPr lang="en-US" altLang="en-US" sz="20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he-IL" sz="1800" dirty="0"/>
          </a:p>
        </p:txBody>
      </p:sp>
      <p:pic>
        <p:nvPicPr>
          <p:cNvPr id="19" name="Image 2" descr="s^{2}=\dfrac{1}{N-1}\sum_{i=1}^{N}(X_{i}-\bar{X})^{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986" y="4267454"/>
            <a:ext cx="2302256" cy="609092"/>
          </a:xfrm>
          <a:prstGeom prst="rect">
            <a:avLst/>
          </a:prstGeom>
        </p:spPr>
      </p:pic>
      <p:pic>
        <p:nvPicPr>
          <p:cNvPr id="20" name="Image 3" descr="\sigma=\sqrt{s^{2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6898" y="5313172"/>
            <a:ext cx="916432" cy="346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62095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 · גרפים לוגריתמיים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3584" y="621792"/>
            <a:ext cx="265176" cy="59436"/>
          </a:xfrm>
          <a:prstGeom prst="roundRect">
            <a:avLst>
              <a:gd name="adj" fmla="val 46154"/>
            </a:avLst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2768" y="621792"/>
            <a:ext cx="530352" cy="59436"/>
          </a:xfrm>
          <a:prstGeom prst="roundRect">
            <a:avLst>
              <a:gd name="adj" fmla="val 46154"/>
            </a:avLst>
          </a:prstGeom>
          <a:solidFill>
            <a:srgbClr val="3A7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סטיית תקן של מדגם</a:t>
            </a:r>
            <a:endParaRPr lang="he-IL" sz="3400" dirty="0"/>
          </a:p>
        </p:txBody>
      </p:sp>
      <p:sp>
        <p:nvSpPr>
          <p:cNvPr id="7" name="Shape 5"/>
          <p:cNvSpPr/>
          <p:nvPr/>
        </p:nvSpPr>
        <p:spPr>
          <a:xfrm>
            <a:off x="10591495" y="1591056"/>
            <a:ext cx="685800" cy="59436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45720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התפלגויות נורמליות סביב אותו ממוצע עם סטיות תקן שונות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931" y="1965960"/>
            <a:ext cx="3926937" cy="3291840"/>
          </a:xfrm>
          <a:prstGeom prst="rect">
            <a:avLst/>
          </a:prstGeom>
        </p:spPr>
      </p:pic>
      <p:pic>
        <p:nvPicPr>
          <p:cNvPr id="10" name="Image 1" descr="מקרא: מסטיית התקן הגדולה ביותר (כתום) לנמוכה ביותר (ירוק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205" y="5349240"/>
            <a:ext cx="2284390" cy="685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806440" y="1874520"/>
            <a:ext cx="5470855" cy="731520"/>
          </a:xfrm>
          <a:prstGeom prst="roundRect">
            <a:avLst>
              <a:gd name="adj" fmla="val 15000"/>
            </a:avLst>
          </a:prstGeom>
          <a:solidFill>
            <a:srgbClr val="EEF5E2"/>
          </a:solidFill>
          <a:ln w="9525">
            <a:solidFill>
              <a:srgbClr val="EEF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1185855" y="1984248"/>
            <a:ext cx="91440" cy="512064"/>
          </a:xfrm>
          <a:prstGeom prst="rect">
            <a:avLst/>
          </a:prstGeom>
          <a:solidFill>
            <a:srgbClr val="549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6080760" y="1874520"/>
            <a:ext cx="4922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 לגודל השגיאה.</a:t>
            </a:r>
            <a:endParaRPr lang="he-IL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5806440" y="2834640"/>
            <a:ext cx="5470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 אצבע</a:t>
            </a:r>
            <a:endParaRPr lang="he-IL" sz="2000" dirty="0"/>
          </a:p>
        </p:txBody>
      </p:sp>
      <p:sp>
        <p:nvSpPr>
          <p:cNvPr id="15" name="Shape 11"/>
          <p:cNvSpPr/>
          <p:nvPr/>
        </p:nvSpPr>
        <p:spPr>
          <a:xfrm>
            <a:off x="5806440" y="3337560"/>
            <a:ext cx="5470855" cy="566928"/>
          </a:xfrm>
          <a:prstGeom prst="roundRect">
            <a:avLst>
              <a:gd name="adj" fmla="val 12903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7269480" y="3337560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כ-68% מהמדידות נמצאות בטווח</a:t>
            </a:r>
            <a:endParaRPr lang="he-IL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035040" y="33375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400" b="1" i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±σ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5806440" y="4023360"/>
            <a:ext cx="5470855" cy="566928"/>
          </a:xfrm>
          <a:prstGeom prst="roundRect">
            <a:avLst>
              <a:gd name="adj" fmla="val 12903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7269480" y="4023360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כ-95% בתוך</a:t>
            </a:r>
            <a:endParaRPr lang="he-IL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6035040" y="40233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400" b="1" i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±2σ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5806440" y="4709160"/>
            <a:ext cx="5470855" cy="566928"/>
          </a:xfrm>
          <a:prstGeom prst="roundRect">
            <a:avLst>
              <a:gd name="adj" fmla="val 12903"/>
            </a:avLst>
          </a:prstGeom>
          <a:solidFill>
            <a:srgbClr val="F7F8FA"/>
          </a:solidFill>
          <a:ln w="9525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7269480" y="4709160"/>
            <a:ext cx="3779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כ-99% בתוך</a:t>
            </a:r>
            <a:endParaRPr lang="he-IL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6035040" y="4709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400" b="1" i="1" dirty="0">
                <a:solidFill>
                  <a:srgbClr val="3A7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±3σ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5806440" y="5486400"/>
            <a:ext cx="5470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r" rtl="1">
              <a:spcAft>
                <a:spcPts val="400"/>
              </a:spcAft>
              <a:buSzPct val="100000"/>
              <a:buChar char="•"/>
            </a:pPr>
            <a:r>
              <a:rPr lang="he-IL" alt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שסטיית התקן גדלה, התוצאה פחות הדירה.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3F7F82-05BA-4551-BD93-E21F2E7473D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a8f0fb7-1686-4dc0-b098-cb7f307da0e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1110</Words>
  <Application>Microsoft Office PowerPoint</Application>
  <PresentationFormat>Widescreen</PresentationFormat>
  <Paragraphs>216</Paragraphs>
  <Slides>20</Slides>
  <Notes>20</Notes>
  <HiddenSlides>6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ניתוח והצגת נתוני תהליך – פרק 2</dc:title>
  <dc:subject>PptxGenJS Presentation</dc:subject>
  <dc:creator>PptxGenJS</dc:creator>
  <cp:lastModifiedBy>ענבל צרפתי-ברעד</cp:lastModifiedBy>
  <cp:revision>2</cp:revision>
  <dcterms:created xsi:type="dcterms:W3CDTF">2026-10-12T13:46:45Z</dcterms:created>
  <dcterms:modified xsi:type="dcterms:W3CDTF">2026-10-18T11:02:50Z</dcterms:modified>
</cp:coreProperties>
</file>